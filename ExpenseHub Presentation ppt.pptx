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5775" y="1886991"/>
            <a:ext cx="3600450" cy="3429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48287" y="4861470"/>
            <a:ext cx="381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00912" y="4861470"/>
            <a:ext cx="38100" cy="381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4809083"/>
            <a:ext cx="1619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987" y="4809083"/>
            <a:ext cx="1809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612" y="4809083"/>
            <a:ext cx="161925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296" y="2458491"/>
            <a:ext cx="11251406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lus Jakarta Sans"/>
              </a:rPr>
              <a:t>ExpenseHub: Budget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3875633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Simplifying daily transaction records, category budgeting, and automated financial insights for total monetary clarity.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1972716"/>
            <a:ext cx="400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WEB-BASED PERSONAL FINANCE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568" y="4790033"/>
            <a:ext cx="1928812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Plus Jakarta Sans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9996" y="4790033"/>
            <a:ext cx="1564481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Plus Jakarta Sans"/>
              </a:rPr>
              <a:t>Web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0956" y="4790033"/>
            <a:ext cx="1309687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25" b="0" i="0" u="none">
                <a:solidFill>
                  <a:srgbClr val="334155"/>
                </a:solidFill>
                <a:latin typeface="Plus Jakarta Sans"/>
              </a:rPr>
              <a:t>Data Analytics</a:t>
            </a:r>
          </a:p>
        </p:txBody>
      </p:sp>
      <p:pic>
        <p:nvPicPr>
          <p:cNvPr id="14" name="Picture 13" descr="KL University Guntur: Courses, Fees, Admission 2026 ...">
            <a:extLst>
              <a:ext uri="{FF2B5EF4-FFF2-40B4-BE49-F238E27FC236}">
                <a16:creationId xmlns:a16="http://schemas.microsoft.com/office/drawing/2014/main" id="{880CD5DE-B0A3-75B4-8551-D115B9227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778" y="186779"/>
            <a:ext cx="1590675" cy="1409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CF5D44-F03B-87E4-80FF-3E228EF0EA38}"/>
              </a:ext>
            </a:extLst>
          </p:cNvPr>
          <p:cNvSpPr txBox="1"/>
          <p:nvPr/>
        </p:nvSpPr>
        <p:spPr>
          <a:xfrm>
            <a:off x="470296" y="4790033"/>
            <a:ext cx="6001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ASE TEAM –</a:t>
            </a:r>
          </a:p>
          <a:p>
            <a:endParaRPr lang="en-US" dirty="0"/>
          </a:p>
          <a:p>
            <a:r>
              <a:rPr lang="en-US" dirty="0"/>
              <a:t>2420030109 -  </a:t>
            </a:r>
            <a:r>
              <a:rPr lang="en-US" dirty="0" err="1"/>
              <a:t>K.Ajithesh</a:t>
            </a:r>
            <a:endParaRPr lang="en-US" dirty="0"/>
          </a:p>
          <a:p>
            <a:r>
              <a:rPr lang="en-US" dirty="0"/>
              <a:t>2420030222 – Gowtham Karthikeya</a:t>
            </a:r>
          </a:p>
          <a:p>
            <a:r>
              <a:rPr lang="en-US" dirty="0"/>
              <a:t>2420030446 – Prakash Chawla</a:t>
            </a:r>
          </a:p>
          <a:p>
            <a:r>
              <a:rPr lang="en-IN" dirty="0"/>
              <a:t>2420030648 – </a:t>
            </a:r>
            <a:r>
              <a:rPr lang="en-IN" dirty="0" err="1"/>
              <a:t>S.Shashivadhan</a:t>
            </a:r>
            <a:r>
              <a:rPr lang="en-IN" dirty="0"/>
              <a:t>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24050"/>
            <a:ext cx="530542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530542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705350"/>
            <a:ext cx="5305425" cy="120015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1914525"/>
            <a:ext cx="532447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30542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20027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59092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981575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Abstract &amp;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162175"/>
            <a:ext cx="6338292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Primary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57450"/>
            <a:ext cx="4924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Streamline personal financial recording by replacing manual spreadsheets with an intuitive, automated web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52825"/>
            <a:ext cx="6338292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Budget Discipline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48100"/>
            <a:ext cx="4924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Empower users to set category spending thresholds, monitor real-time balance metrics, and curb overspending.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943475"/>
            <a:ext cx="6338292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Practical Demonstration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238750"/>
            <a:ext cx="49244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Serves as a showcase for core software engineering principles, database design, modern UI/UX, and data visualization.</a:t>
            </a:r>
          </a:p>
        </p:txBody>
      </p:sp>
      <p:pic>
        <p:nvPicPr>
          <p:cNvPr id="18" name="Picture 17" descr="KL University Guntur: Courses, Fees, Admission 2026 ...">
            <a:extLst>
              <a:ext uri="{FF2B5EF4-FFF2-40B4-BE49-F238E27FC236}">
                <a16:creationId xmlns:a16="http://schemas.microsoft.com/office/drawing/2014/main" id="{1A9226DE-3588-7E8E-7779-0D6511178F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4778" y="190500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85975"/>
            <a:ext cx="3530649" cy="361950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085975"/>
            <a:ext cx="3530649" cy="361950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085975"/>
            <a:ext cx="3530649" cy="361950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5029200"/>
            <a:ext cx="2978199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06974" y="5029200"/>
            <a:ext cx="2978199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8124" y="5029200"/>
            <a:ext cx="2978199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3622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5172075"/>
            <a:ext cx="1238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974" y="23622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799" y="5172075"/>
            <a:ext cx="1428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124" y="23622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1949" y="5172075"/>
            <a:ext cx="12382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2486025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0799" y="2486025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7661" y="2486025"/>
            <a:ext cx="2381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01. Transaction Logging &amp; Metadata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2362200"/>
            <a:ext cx="3073449" cy="1919287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Data 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5143500"/>
            <a:ext cx="28448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High Accuracy Ledger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6974" y="2362200"/>
            <a:ext cx="3073449" cy="1919287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1274" y="5143500"/>
            <a:ext cx="28448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Flexible Category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2362200"/>
            <a:ext cx="3073449" cy="1919287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2424" y="5143500"/>
            <a:ext cx="284484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366F1"/>
                </a:solidFill>
                <a:latin typeface="Plus Jakarta Sans"/>
              </a:rPr>
              <a:t>Multi-Account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286125"/>
            <a:ext cx="390888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Rich Field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638550"/>
            <a:ext cx="30734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Log Every Transaction: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Record inflow and outflow with exact timestamp, amount, and custom descriptors.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6974" y="3286125"/>
            <a:ext cx="390888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Custom Categorization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6974" y="3638550"/>
            <a:ext cx="30734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Organized Grouping: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Map items to Housing, Utilities, Food, Salary, or user-defined custom categories.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8124" y="3286125"/>
            <a:ext cx="3863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Multi-Payment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124" y="3638550"/>
            <a:ext cx="30734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Plus Jakarta Sans"/>
              </a:rPr>
              <a:t>Payment Multi-Tracking: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Track source accounts across Cash, Credit Cards, Bank Accounts, and Digital Wallets.</a:t>
            </a:r>
          </a:p>
        </p:txBody>
      </p:sp>
      <p:pic>
        <p:nvPicPr>
          <p:cNvPr id="31" name="Picture 30" descr="KL University Guntur: Courses, Fees, Admission 2026 ...">
            <a:extLst>
              <a:ext uri="{FF2B5EF4-FFF2-40B4-BE49-F238E27FC236}">
                <a16:creationId xmlns:a16="http://schemas.microsoft.com/office/drawing/2014/main" id="{2FD27979-8BF2-D602-1D5A-92EB06D1CE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0061" y="176213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76975" y="28194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975" y="36671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975" y="45148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32447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95500"/>
            <a:ext cx="53054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02. Centralized Financial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4100" y="28194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100" y="36671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100" y="451485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2819400"/>
            <a:ext cx="5419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Single Pane of Glass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076575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Consolidates all historical and active financial activity into one coherent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667125"/>
            <a:ext cx="5419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Interactive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3924300"/>
            <a:ext cx="4905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Instant searching, filtering, and sorting by month, payment type, or category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2275" y="4514850"/>
            <a:ext cx="54197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Visual Summary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4772025"/>
            <a:ext cx="54197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Clean graphical breakdowns of monthly inflow versus outflow ratios.</a:t>
            </a:r>
          </a:p>
        </p:txBody>
      </p:sp>
      <p:pic>
        <p:nvPicPr>
          <p:cNvPr id="18" name="Picture 17" descr="KL University Guntur: Courses, Fees, Admission 2026 ...">
            <a:extLst>
              <a:ext uri="{FF2B5EF4-FFF2-40B4-BE49-F238E27FC236}">
                <a16:creationId xmlns:a16="http://schemas.microsoft.com/office/drawing/2014/main" id="{0D0E4FEC-8960-3069-2002-DC42DB9B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959" y="190500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E68ECA-F827-E6A0-D3F1-83434FAA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" y="350625"/>
            <a:ext cx="7325033" cy="29103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1C1529-0EDD-A9D2-7503-0BDAC611EA06}"/>
                  </a:ext>
                </a:extLst>
              </p:cNvPr>
              <p:cNvSpPr txBox="1"/>
              <p:nvPr/>
            </p:nvSpPr>
            <p:spPr>
              <a:xfrm>
                <a:off x="403122" y="3429000"/>
                <a:ext cx="9144000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IN" b="1" dirty="0">
                    <a:effectLst/>
                    <a:latin typeface="+mn-lt"/>
                  </a:rPr>
                  <a:t>Practical Example</a:t>
                </a:r>
              </a:p>
              <a:p>
                <a:pPr marL="0" marR="0">
                  <a:buNone/>
                </a:pPr>
                <a:r>
                  <a:rPr lang="en-IN" dirty="0">
                    <a:effectLst/>
                    <a:latin typeface="+mn-lt"/>
                  </a:rPr>
                  <a:t>Imagine a freelance software developer named Alex who tracks monthly business finances:</a:t>
                </a: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IN" b="1" dirty="0">
                    <a:effectLst/>
                    <a:latin typeface="+mn-lt"/>
                  </a:rPr>
                  <a:t>Inflow Tracking:</a:t>
                </a:r>
                <a:r>
                  <a:rPr lang="en-IN" dirty="0">
                    <a:effectLst/>
                    <a:latin typeface="+mn-lt"/>
                  </a:rPr>
                  <a:t> Throughout the month, Alex receives client payments </a:t>
                </a:r>
                <a:r>
                  <a:rPr lang="en-IN" dirty="0" err="1">
                    <a:effectLst/>
                    <a:latin typeface="+mn-lt"/>
                  </a:rPr>
                  <a:t>totaling</a:t>
                </a:r>
                <a:r>
                  <a:rPr lang="en-IN" dirty="0">
                    <a:effectLst/>
                    <a:latin typeface="+mn-lt"/>
                  </a:rPr>
                  <a:t> </a:t>
                </a:r>
                <a:r>
                  <a:rPr lang="en-IN" b="1" dirty="0">
                    <a:effectLst/>
                    <a:latin typeface="+mn-lt"/>
                  </a:rPr>
                  <a:t>$12,450</a:t>
                </a:r>
                <a:r>
                  <a:rPr lang="en-IN" dirty="0">
                    <a:effectLst/>
                    <a:latin typeface="+mn-lt"/>
                  </a:rPr>
                  <a:t>. The system automatically logs and sums these incoming deposits as verified inflow. </a:t>
                </a: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IN" b="1" dirty="0">
                    <a:effectLst/>
                    <a:latin typeface="+mn-lt"/>
                  </a:rPr>
                  <a:t>Outflow Tracking:</a:t>
                </a:r>
                <a:r>
                  <a:rPr lang="en-IN" dirty="0">
                    <a:effectLst/>
                    <a:latin typeface="+mn-lt"/>
                  </a:rPr>
                  <a:t> Alex pays for software subscriptions, cloud hosting, and office equipment </a:t>
                </a:r>
                <a:r>
                  <a:rPr lang="en-IN" dirty="0" err="1">
                    <a:effectLst/>
                    <a:latin typeface="+mn-lt"/>
                  </a:rPr>
                  <a:t>totaling</a:t>
                </a:r>
                <a:r>
                  <a:rPr lang="en-IN" dirty="0">
                    <a:effectLst/>
                    <a:latin typeface="+mn-lt"/>
                  </a:rPr>
                  <a:t> </a:t>
                </a:r>
                <a:r>
                  <a:rPr lang="en-IN" b="1" dirty="0">
                    <a:effectLst/>
                    <a:latin typeface="+mn-lt"/>
                  </a:rPr>
                  <a:t>$7,120</a:t>
                </a:r>
                <a:r>
                  <a:rPr lang="en-IN" dirty="0">
                    <a:effectLst/>
                    <a:latin typeface="+mn-lt"/>
                  </a:rPr>
                  <a:t>. The system instantly tallies these expenses under aggregated outflow. </a:t>
                </a: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IN" b="1" dirty="0">
                    <a:effectLst/>
                    <a:latin typeface="+mn-lt"/>
                  </a:rPr>
                  <a:t>Automated Balance Calculation:</a:t>
                </a:r>
                <a:r>
                  <a:rPr lang="en-IN" dirty="0">
                    <a:effectLst/>
                    <a:latin typeface="+mn-lt"/>
                  </a:rPr>
                  <a:t> Instead of manually updating a spreadsheet or risk making a typo in a formula, the system instantly computes:</a:t>
                </a:r>
              </a:p>
              <a:p>
                <a:pPr marL="0" marR="0" lvl="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$</m:t>
                    </m:r>
                    <m:r>
                      <a:rPr lang="en-IN" i="0">
                        <a:latin typeface="+mn-lt"/>
                      </a:rPr>
                      <m:t>12,450−$7,120=$5,330</m:t>
                    </m:r>
                  </m:oMath>
                </a14:m>
                <a:endParaRPr lang="en-IN" dirty="0">
                  <a:effectLst/>
                  <a:latin typeface="+mn-lt"/>
                </a:endParaRPr>
              </a:p>
              <a:p>
                <a:pPr marL="0" marR="0" lvl="0" indent="-342900">
                  <a:buFont typeface="+mj-lt"/>
                  <a:buAutoNum type="arabicPeriod"/>
                </a:pPr>
                <a:r>
                  <a:rPr lang="en-IN" b="1" dirty="0">
                    <a:effectLst/>
                    <a:latin typeface="+mn-lt"/>
                  </a:rPr>
                  <a:t>Real-World Outcome:</a:t>
                </a:r>
                <a:r>
                  <a:rPr lang="en-IN" dirty="0">
                    <a:effectLst/>
                    <a:latin typeface="+mn-lt"/>
                  </a:rPr>
                  <a:t> Alex opens the dashboard and immediately sees </a:t>
                </a:r>
                <a:r>
                  <a:rPr lang="en-IN" b="1" dirty="0">
                    <a:effectLst/>
                    <a:latin typeface="+mn-lt"/>
                  </a:rPr>
                  <a:t>$5,330</a:t>
                </a:r>
                <a:r>
                  <a:rPr lang="en-IN" dirty="0">
                    <a:effectLst/>
                    <a:latin typeface="+mn-lt"/>
                  </a:rPr>
                  <a:t> in real-time liquidity. This instant clarity helps Alex confidently decide whether to invest in new gear or reserve the capital for tax savings, without spending time recalculating numbers. </a:t>
                </a:r>
                <a:endParaRPr lang="en-IN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1C1529-0EDD-A9D2-7503-0BDAC611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2" y="3429000"/>
                <a:ext cx="9144000" cy="3416320"/>
              </a:xfrm>
              <a:prstGeom prst="rect">
                <a:avLst/>
              </a:prstGeom>
              <a:blipFill>
                <a:blip r:embed="rId3"/>
                <a:stretch>
                  <a:fillRect l="-533" t="-1071" r="-333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KL University Guntur: Courses, Fees, Admission 2026 ...">
            <a:extLst>
              <a:ext uri="{FF2B5EF4-FFF2-40B4-BE49-F238E27FC236}">
                <a16:creationId xmlns:a16="http://schemas.microsoft.com/office/drawing/2014/main" id="{0FEA8B04-E9E2-7EBA-94A3-B0934217B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610" y="214465"/>
            <a:ext cx="15906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3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99212" y="2711946"/>
            <a:ext cx="4783187" cy="2329457"/>
          </a:xfrm>
          <a:prstGeom prst="roundRect">
            <a:avLst>
              <a:gd name="adj" fmla="val 654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5922912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519487"/>
            <a:ext cx="5922912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405312"/>
            <a:ext cx="5922912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8675" y="3071812"/>
            <a:ext cx="548476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8675" y="3957637"/>
            <a:ext cx="548476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8675" y="4843462"/>
            <a:ext cx="548476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8675" y="3071812"/>
            <a:ext cx="4113460" cy="952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8675" y="3957637"/>
            <a:ext cx="3510111" cy="952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8675" y="4843462"/>
            <a:ext cx="5210472" cy="952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437" y="3026271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2843212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729037"/>
            <a:ext cx="1619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4614862"/>
            <a:ext cx="16192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04. Category Budget Caps &amp; Target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5437" y="2988171"/>
            <a:ext cx="5116562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lus Jakarta Sans"/>
              </a:rPr>
              <a:t>Budget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5437" y="3416796"/>
            <a:ext cx="432598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E40AF"/>
                </a:solidFill>
                <a:latin typeface="Plus Jakarta Sans"/>
              </a:rPr>
              <a:t>Custom Thresholds: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Set custom expenditure ceilings per category monthly.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5437" y="3904357"/>
            <a:ext cx="432598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E40AF"/>
                </a:solidFill>
                <a:latin typeface="Plus Jakarta Sans"/>
              </a:rPr>
              <a:t>Color Alerts: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Visual progress indicators trigger warning shades as spend nears maximum cap.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5437" y="4391917"/>
            <a:ext cx="432598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E40AF"/>
                </a:solidFill>
                <a:latin typeface="Plus Jakarta Sans"/>
              </a:rPr>
              <a:t>Impulse Control: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Prevents discretionary overspending before checkout.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2814637"/>
            <a:ext cx="1762125" cy="180975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Dining &amp; Outings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9887" y="2814637"/>
            <a:ext cx="2166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$450 / $600 Limit (75%)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3700462"/>
            <a:ext cx="1952625" cy="1809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Monthly Groceries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0362" y="3700462"/>
            <a:ext cx="21788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$320 / $500 Limit (64%)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" y="4586287"/>
            <a:ext cx="2309812" cy="1809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Entertainment &amp; Travel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7412" y="4586287"/>
            <a:ext cx="3107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F4444"/>
                </a:solidFill>
                <a:latin typeface="Plus Jakarta Sans"/>
              </a:rPr>
              <a:t>$380 / $400 Limit (95% - Warning)</a:t>
            </a:r>
          </a:p>
        </p:txBody>
      </p:sp>
      <p:pic>
        <p:nvPicPr>
          <p:cNvPr id="28" name="Picture 27" descr="KL University Guntur: Courses, Fees, Admission 2026 ...">
            <a:extLst>
              <a:ext uri="{FF2B5EF4-FFF2-40B4-BE49-F238E27FC236}">
                <a16:creationId xmlns:a16="http://schemas.microsoft.com/office/drawing/2014/main" id="{3B346FA4-D114-29EF-F6DB-F3F5B156B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7462" y="278376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5050"/>
            <a:ext cx="5372100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05050"/>
            <a:ext cx="5372100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10025"/>
            <a:ext cx="5372100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10025"/>
            <a:ext cx="5372100" cy="1476375"/>
          </a:xfrm>
          <a:prstGeom prst="roundRect">
            <a:avLst>
              <a:gd name="adj" fmla="val 103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581275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581275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8625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28625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686050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2686050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125" y="4391025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391025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05. Spending Pattern Analytics &amp;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076575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Automatically detects recurring monthly subscription leaks, coffee spending spikes, and impulse cash drainage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076575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Compares active month expenditure against prior 3-month historic baselines to flag cost creep across key categories.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781550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Triggers dynamic visual status flags when category spending exceeds 80% and 95% of defined monthly limits.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781550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Visualizes exact percentage allocation per category to guide immediate personal budget reallocation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2662237"/>
            <a:ext cx="29253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Behavioral Habit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1825" y="2662237"/>
            <a:ext cx="32504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Period-over-Period Variance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4367212"/>
            <a:ext cx="22502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Proactive Limit Cues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1825" y="4367212"/>
            <a:ext cx="34629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Proportional Outflow Summary</a:t>
            </a:r>
          </a:p>
        </p:txBody>
      </p:sp>
      <p:pic>
        <p:nvPicPr>
          <p:cNvPr id="24" name="Picture 23" descr="KL University Guntur: Courses, Fees, Admission 2026 ...">
            <a:extLst>
              <a:ext uri="{FF2B5EF4-FFF2-40B4-BE49-F238E27FC236}">
                <a16:creationId xmlns:a16="http://schemas.microsoft.com/office/drawing/2014/main" id="{FC7C5C4D-5886-915A-A579-1D1CF56C4E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2231" y="238125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81225"/>
            <a:ext cx="2600325" cy="34290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181225"/>
            <a:ext cx="2600325" cy="34290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181225"/>
            <a:ext cx="2600325" cy="34290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181225"/>
            <a:ext cx="2600325" cy="34290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5114925"/>
            <a:ext cx="1152525" cy="257175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38550" y="5114925"/>
            <a:ext cx="1133475" cy="257175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5114925"/>
            <a:ext cx="1057275" cy="257175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20200" y="5114925"/>
            <a:ext cx="1038225" cy="257175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1935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241935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2419350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2419350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2543175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850" y="2543175"/>
            <a:ext cx="1905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387" y="2543175"/>
            <a:ext cx="2190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0212" y="2543175"/>
            <a:ext cx="2190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PRACTICAL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Where ExpenseHub Is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172075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Plus Jakarta Sans"/>
              </a:rPr>
              <a:t>Stipend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2850" y="5172075"/>
            <a:ext cx="1000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Family Expenses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675" y="5172075"/>
            <a:ext cx="923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Sole Proprietor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500" y="5172075"/>
            <a:ext cx="904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Plus Jakarta Sans"/>
              </a:rPr>
              <a:t>CS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29908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Students &amp; Youth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286125"/>
            <a:ext cx="22193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Manages monthly stipends, tuition payments, room rents, and daily food costs under tight allowances.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8550" y="29908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Household Budgeting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8550" y="3286125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Monitors household groceries, utility bills, maintenance, and joint family savings contributions.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29908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Freelancers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3286125"/>
            <a:ext cx="22193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Separates client project invoices and software subscriptions from personal living expenditures.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00" y="29908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Academic Labs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00" y="3286125"/>
            <a:ext cx="22193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Serves as a real-world software engineering case study for full-stack web development and database management.</a:t>
            </a:r>
          </a:p>
        </p:txBody>
      </p:sp>
      <p:pic>
        <p:nvPicPr>
          <p:cNvPr id="32" name="Picture 31" descr="KL University Guntur: Courses, Fees, Admission 2026 ...">
            <a:extLst>
              <a:ext uri="{FF2B5EF4-FFF2-40B4-BE49-F238E27FC236}">
                <a16:creationId xmlns:a16="http://schemas.microsoft.com/office/drawing/2014/main" id="{40C86221-3F11-910B-647F-FCE2140784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7373" y="352425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520536"/>
              </p:ext>
            </p:extLst>
          </p:nvPr>
        </p:nvGraphicFramePr>
        <p:xfrm>
          <a:off x="619126" y="786581"/>
          <a:ext cx="10963274" cy="2521668"/>
        </p:xfrm>
        <a:graphic>
          <a:graphicData uri="http://schemas.openxmlformats.org/drawingml/2006/table">
            <a:tbl>
              <a:tblPr/>
              <a:tblGrid>
                <a:gridCol w="1849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2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7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9224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Feature </a:t>
                      </a:r>
                      <a:r>
                        <a:rPr sz="105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Comparison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Traditional Notebooks / Spreadsheets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Over-Complex Commercial Banking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ExpenseHub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61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Entry &amp;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Manual formulas, prone to breaking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Cluttered with ads &amp; upsells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Clean, focused, direct CRUD forms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61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Budget Enforcement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Passive notes with zero feedback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Rigid banking-tier presets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Custom limit threshold bars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61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Setup Complexity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Requires Excel formula mastery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Mandatory bank account linking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Zero setup; immediate accessibility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61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Data Privacy &amp; Control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Local only, easily lost 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Third-party data monetization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2563EB"/>
                          </a:solidFill>
                          <a:latin typeface="Plus Jakarta Sans"/>
                        </a:rPr>
                        <a:t>User-owned structured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235514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Plus Jakarta Sans"/>
              </a:rPr>
              <a:t>COMPETITIVE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6964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How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ExpenseHub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Differs From Existing Solutions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2B4E48-B001-798F-2E0B-1E4C03DE5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940815"/>
              </p:ext>
            </p:extLst>
          </p:nvPr>
        </p:nvGraphicFramePr>
        <p:xfrm>
          <a:off x="555370" y="3308249"/>
          <a:ext cx="11081260" cy="3269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315">
                  <a:extLst>
                    <a:ext uri="{9D8B030D-6E8A-4147-A177-3AD203B41FA5}">
                      <a16:colId xmlns:a16="http://schemas.microsoft.com/office/drawing/2014/main" val="2631068875"/>
                    </a:ext>
                  </a:extLst>
                </a:gridCol>
                <a:gridCol w="2770315">
                  <a:extLst>
                    <a:ext uri="{9D8B030D-6E8A-4147-A177-3AD203B41FA5}">
                      <a16:colId xmlns:a16="http://schemas.microsoft.com/office/drawing/2014/main" val="4147638257"/>
                    </a:ext>
                  </a:extLst>
                </a:gridCol>
                <a:gridCol w="2770315">
                  <a:extLst>
                    <a:ext uri="{9D8B030D-6E8A-4147-A177-3AD203B41FA5}">
                      <a16:colId xmlns:a16="http://schemas.microsoft.com/office/drawing/2014/main" val="5792298"/>
                    </a:ext>
                  </a:extLst>
                </a:gridCol>
                <a:gridCol w="2770315">
                  <a:extLst>
                    <a:ext uri="{9D8B030D-6E8A-4147-A177-3AD203B41FA5}">
                      <a16:colId xmlns:a16="http://schemas.microsoft.com/office/drawing/2014/main" val="2762372914"/>
                    </a:ext>
                  </a:extLst>
                </a:gridCol>
              </a:tblGrid>
              <a:tr h="134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Notebooks / Spreadsheets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Over-Complex Commercial Banking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ExpenseHub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294500"/>
                  </a:ext>
                </a:extLst>
              </a:tr>
              <a:tr h="657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Entry &amp;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formulas, prone to breaking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Cluttered with ads &amp; upsells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Clean, focused, direct CRUD 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935843"/>
                  </a:ext>
                </a:extLst>
              </a:tr>
              <a:tr h="657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Budget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Passive notes with zero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Rigid banking-tier presets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Custom limit threshold bars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1640670"/>
                  </a:ext>
                </a:extLst>
              </a:tr>
              <a:tr h="657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Setup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Excel formula mastery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Mandatory bank account linking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Zero setup; immediate accessibility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797251"/>
                  </a:ext>
                </a:extLst>
              </a:tr>
              <a:tr h="657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Privacy &amp;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only, easily lost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Third-party data monetization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User-owned structured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973123"/>
                  </a:ext>
                </a:extLst>
              </a:tr>
            </a:tbl>
          </a:graphicData>
        </a:graphic>
      </p:graphicFrame>
      <p:pic>
        <p:nvPicPr>
          <p:cNvPr id="11" name="Picture 10" descr="KL University Guntur: Courses, Fees, Admission 2026 ...">
            <a:extLst>
              <a:ext uri="{FF2B5EF4-FFF2-40B4-BE49-F238E27FC236}">
                <a16:creationId xmlns:a16="http://schemas.microsoft.com/office/drawing/2014/main" id="{A9A4BCBF-B0C8-88A7-888F-2FB7818B6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591" y="81731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76475"/>
            <a:ext cx="2571750" cy="323850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276475"/>
            <a:ext cx="2571750" cy="323850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276475"/>
            <a:ext cx="2571750" cy="323850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276475"/>
            <a:ext cx="2571750" cy="323850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514600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514600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514600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514600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ENGINEERING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Technical CS Principles Demonstrated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3370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Software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228975"/>
            <a:ext cx="2190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Modular code design, separation of concerns, MVC architecture pattern implementation, and clean API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293370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Web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3228975"/>
            <a:ext cx="2190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Responsive HTML5/CSS3 layouts, asynchronous DOM manipulation, and cross-browser user interface compatibility.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93370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Database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228975"/>
            <a:ext cx="2190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Relational schema design, SQL data integrity, primary/foreign key mappings, and optimized query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2933700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228975"/>
            <a:ext cx="2190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Translating raw tabular records into digestible charts, dynamic progress indicators, and visual spending summaries.</a:t>
            </a:r>
          </a:p>
        </p:txBody>
      </p:sp>
      <p:pic>
        <p:nvPicPr>
          <p:cNvPr id="20" name="Picture 19" descr="KL University Guntur: Courses, Fees, Admission 2026 ...">
            <a:extLst>
              <a:ext uri="{FF2B5EF4-FFF2-40B4-BE49-F238E27FC236}">
                <a16:creationId xmlns:a16="http://schemas.microsoft.com/office/drawing/2014/main" id="{A2128EC8-B62C-A2C3-37AC-B8AEBE45F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6860" y="190500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8244" y="2914650"/>
            <a:ext cx="5384155" cy="1962150"/>
          </a:xfrm>
          <a:prstGeom prst="roundRect">
            <a:avLst>
              <a:gd name="adj" fmla="val 776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33612"/>
            <a:ext cx="5283844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405187"/>
            <a:ext cx="5283844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76762"/>
            <a:ext cx="5283844" cy="981075"/>
          </a:xfrm>
          <a:prstGeom prst="roundRect">
            <a:avLst>
              <a:gd name="adj" fmla="val 116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848" y="3228975"/>
            <a:ext cx="3048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4955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66712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83870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262890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38004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7" y="4972050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HUMAN-CENTRIC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Psychological &amp; Life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8131" y="3724275"/>
            <a:ext cx="594438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1E3A8A"/>
                </a:solidFill>
                <a:latin typeface="Plus Jakarta Sans"/>
              </a:rPr>
              <a:t>"Financial freedom isn't about earning millions; it's about complete control over every dollar you spend."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8131" y="4391025"/>
            <a:ext cx="59443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— Personal Finance Mindset Pillar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9225" y="2433637"/>
            <a:ext cx="56098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Reduces Financial Anxiety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9225" y="2671762"/>
            <a:ext cx="43694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Replaces uncertainty and stress with clear, visual factual awareness of exact bank balances.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225" y="3605212"/>
            <a:ext cx="56098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Builds Mindful Spending Habits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9225" y="3843337"/>
            <a:ext cx="43694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Logging entries creates intentional pause moments, reducing spontaneous compulsive purchases.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9225" y="4776787"/>
            <a:ext cx="560988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Encourages Goal Achievement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9225" y="5014912"/>
            <a:ext cx="436944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Staying under budget unlocks tangible long-term savings for emergency funds and investments.</a:t>
            </a:r>
          </a:p>
        </p:txBody>
      </p:sp>
      <p:pic>
        <p:nvPicPr>
          <p:cNvPr id="23" name="Picture 22" descr="KL University Guntur: Courses, Fees, Admission 2026 ...">
            <a:extLst>
              <a:ext uri="{FF2B5EF4-FFF2-40B4-BE49-F238E27FC236}">
                <a16:creationId xmlns:a16="http://schemas.microsoft.com/office/drawing/2014/main" id="{E0984F4E-F242-F7FF-91AB-1E197117BA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1837" y="290513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76475"/>
            <a:ext cx="2600325" cy="32385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276475"/>
            <a:ext cx="2600325" cy="32385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276475"/>
            <a:ext cx="2600325" cy="32385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276475"/>
            <a:ext cx="2600325" cy="3238500"/>
          </a:xfrm>
          <a:prstGeom prst="roundRect">
            <a:avLst>
              <a:gd name="adj" fmla="val 58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FORWARD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Future Purpose &amp; Enhancement Horizons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1460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PHASE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7622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AI Spending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95625"/>
            <a:ext cx="22193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Predictive machine learning models to forecast upcoming monthly bills and flag unexpected subscription price increases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251460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PHASE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27622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OCR Receipt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095625"/>
            <a:ext cx="22193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Snap a photo of physical store receipts; computer vision automatically extracts total, date, merchant, and line items.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51460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PHASE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7622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Multi-Currency &amp;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095625"/>
            <a:ext cx="22193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Real-time exchange rate conversions and multi-device cloud synchronization for international travel and remote workers.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251460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276225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Goal Gamification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095625"/>
            <a:ext cx="22193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Milestone badges, savings streaks, and community challenges to make budget discipline engaging and rewarding.</a:t>
            </a:r>
          </a:p>
        </p:txBody>
      </p:sp>
      <p:pic>
        <p:nvPicPr>
          <p:cNvPr id="20" name="Picture 19" descr="KL University Guntur: Courses, Fees, Admission 2026 ...">
            <a:extLst>
              <a:ext uri="{FF2B5EF4-FFF2-40B4-BE49-F238E27FC236}">
                <a16:creationId xmlns:a16="http://schemas.microsoft.com/office/drawing/2014/main" id="{D2A55B6A-6029-DE07-8312-0B990894A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237" y="152400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57925" y="2414587"/>
            <a:ext cx="5324475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3338512"/>
            <a:ext cx="53244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7925" y="4433887"/>
            <a:ext cx="5324475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53435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95500"/>
            <a:ext cx="532447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SYSTEM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Architecture &amp; 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2595562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Presentation Layer (Frontend)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833687"/>
            <a:ext cx="5753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Responsive web interface built with HTML5, CSS3, and dynamic JS handlers.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519487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Business Logic Layer (Backend)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757612"/>
            <a:ext cx="50577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Server-side controller processes inputs, validates fields, and routes calculations.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4614862"/>
            <a:ext cx="5753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Relational Data Layer (Database)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852987"/>
            <a:ext cx="50577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Structured SQL tables maintaining relational links between Users, Transactions, and Categories.</a:t>
            </a:r>
          </a:p>
        </p:txBody>
      </p:sp>
      <p:pic>
        <p:nvPicPr>
          <p:cNvPr id="15" name="Picture 14" descr="KL University Guntur: Courses, Fees, Admission 2026 ...">
            <a:extLst>
              <a:ext uri="{FF2B5EF4-FFF2-40B4-BE49-F238E27FC236}">
                <a16:creationId xmlns:a16="http://schemas.microsoft.com/office/drawing/2014/main" id="{3B804F8C-CF22-FCD0-54F3-C4C14368A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965" y="184048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8672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19350"/>
            <a:ext cx="3505200" cy="2219325"/>
          </a:xfrm>
          <a:prstGeom prst="roundRect">
            <a:avLst>
              <a:gd name="adj" fmla="val 68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505075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505075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25" y="5057775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2733675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7" y="281940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787" y="2819400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IMPACT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Performance &amp; Value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66700" y="5019675"/>
            <a:ext cx="12725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3A8A"/>
                </a:solidFill>
                <a:latin typeface="Plus Jakarta Sans"/>
              </a:rPr>
              <a:t>Engineered for speed, accuracy, and personal financial clarity.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356" y="3038475"/>
            <a:ext cx="3595687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2563EB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356" y="3743325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Calculation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356" y="3981450"/>
            <a:ext cx="3595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Eliminates human arithmetic errors completely.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8156" y="3124200"/>
            <a:ext cx="3595687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8156" y="3829050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Time Efficiency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8156" y="406717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Faster than manual spreadsheet logging.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1956" y="3124200"/>
            <a:ext cx="3595687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6366F1"/>
                </a:solidFill>
                <a:latin typeface="Plus Jakarta Sans"/>
              </a:rPr>
              <a:t>&lt; 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1956" y="3829050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Dashboard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1956" y="4067175"/>
            <a:ext cx="3595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Instant metric rendering on login.</a:t>
            </a:r>
          </a:p>
        </p:txBody>
      </p:sp>
      <p:pic>
        <p:nvPicPr>
          <p:cNvPr id="22" name="Picture 21" descr="KL University Guntur: Courses, Fees, Admission 2026 ...">
            <a:extLst>
              <a:ext uri="{FF2B5EF4-FFF2-40B4-BE49-F238E27FC236}">
                <a16:creationId xmlns:a16="http://schemas.microsoft.com/office/drawing/2014/main" id="{BA56536E-D52B-5878-AF06-D7F60EEEC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443" y="190500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91025" y="4924425"/>
            <a:ext cx="3409950" cy="504825"/>
          </a:xfrm>
          <a:prstGeom prst="roundRect">
            <a:avLst>
              <a:gd name="adj" fmla="val 2264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986087" y="3952875"/>
            <a:ext cx="1971675" cy="628650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10162" y="3952875"/>
            <a:ext cx="1971675" cy="628650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34237" y="3952875"/>
            <a:ext cx="1971675" cy="628650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428750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1600200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4124325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562" y="4124325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0" y="4124325"/>
            <a:ext cx="114300" cy="13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89921" y="2228850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STRATEGIC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5518" y="2476500"/>
            <a:ext cx="7700962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150" b="1" i="0" u="none">
                <a:solidFill>
                  <a:srgbClr val="0F172A"/>
                </a:solidFill>
                <a:latin typeface="Plus Jakarta Sans"/>
              </a:rPr>
              <a:t>Empowering Financial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0" y="3133725"/>
            <a:ext cx="857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ExpenseHub transforms complex personal finance record keeping into a seamless, visual, and automated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7681" y="5076825"/>
            <a:ext cx="35766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Thank You • 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2978" y="4086225"/>
            <a:ext cx="21978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Automated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7053" y="4086225"/>
            <a:ext cx="21978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Category Budget Caps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1128" y="4086225"/>
            <a:ext cx="21978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CS Principles Demonstrated</a:t>
            </a:r>
          </a:p>
        </p:txBody>
      </p:sp>
      <p:pic>
        <p:nvPicPr>
          <p:cNvPr id="18" name="Picture 17" descr="KL University Guntur: Courses, Fees, Admission 2026 ...">
            <a:extLst>
              <a:ext uri="{FF2B5EF4-FFF2-40B4-BE49-F238E27FC236}">
                <a16:creationId xmlns:a16="http://schemas.microsoft.com/office/drawing/2014/main" id="{5C70355C-4E5D-B5B9-E90A-29AF0CA286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99" y="220304"/>
            <a:ext cx="1590675" cy="140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1247</Words>
  <Application>Microsoft Office PowerPoint</Application>
  <PresentationFormat>Widescreen</PresentationFormat>
  <Paragraphs>191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Plus Jakarta Sans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Prakash</dc:creator>
  <cp:keywords/>
  <dc:description>generated using python-pptx</dc:description>
  <cp:lastModifiedBy>prakash.chawla2007@outlook.com</cp:lastModifiedBy>
  <cp:revision>2</cp:revision>
  <dcterms:created xsi:type="dcterms:W3CDTF">2013-01-27T09:14:16Z</dcterms:created>
  <dcterms:modified xsi:type="dcterms:W3CDTF">2026-09-30T07:10:34Z</dcterms:modified>
  <cp:category/>
</cp:coreProperties>
</file>